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760C"/>
    <a:srgbClr val="E4A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E2C67-75BB-5AEE-26F4-E55BCA04FEDE}" v="107" dt="2026-04-20T20:58:30.199"/>
    <p1510:client id="{6620BB81-A155-49F3-3567-4B0DE1E3AC06}" v="538" dt="2026-04-22T03:31:01.460"/>
    <p1510:client id="{AA05208B-742C-B094-7651-CF56C73A32C2}" v="1168" dt="2026-04-22T03:21:03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801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0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1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8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5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1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8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9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1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2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08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38E5F6-3AFA-9712-0858-ABEE8B6A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Grandview Display"/>
              </a:rPr>
              <a:t>SOCIAL MEDIA AND MENTAL HEALTH</a:t>
            </a:r>
            <a:br>
              <a:rPr lang="en-US" b="1" dirty="0">
                <a:latin typeface="Grandview Display"/>
              </a:rPr>
            </a:br>
            <a:r>
              <a:rPr lang="en-US" sz="2400" i="1" dirty="0">
                <a:solidFill>
                  <a:srgbClr val="E8760C"/>
                </a:solidFill>
                <a:latin typeface="Lucida Sans"/>
              </a:rPr>
              <a:t>When words are all we have</a:t>
            </a:r>
            <a:br>
              <a:rPr lang="en-US" b="1" i="1" dirty="0">
                <a:solidFill>
                  <a:srgbClr val="E8760C"/>
                </a:solidFill>
                <a:latin typeface="Grandview Display"/>
              </a:rPr>
            </a:br>
            <a:endParaRPr lang="en-US" sz="1000" b="1" i="1" dirty="0">
              <a:latin typeface="Grandview Display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Anonymous platforms like Reddit reveal raw, unfiltered mental health struggles people won’t say out loud.</a:t>
            </a:r>
            <a:endParaRPr lang="en-US" dirty="0"/>
          </a:p>
          <a:p>
            <a:pPr algn="just"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Depression and anxiety are among the most prevalent yet underdiagnosed conditions today.</a:t>
            </a:r>
          </a:p>
          <a:p>
            <a:pPr algn="just"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Our goal is to use ML algorithms to classify Reddit posts into categories such as anxiety, depression, and suicide risk.</a:t>
            </a:r>
          </a:p>
          <a:p>
            <a:pPr algn="just"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Benchmark 6 different models from logistic regression to </a:t>
            </a:r>
            <a:r>
              <a:rPr lang="en-US" sz="1800" dirty="0" err="1">
                <a:solidFill>
                  <a:srgbClr val="000000"/>
                </a:solidFill>
              </a:rPr>
              <a:t>DistilBERT</a:t>
            </a:r>
            <a:r>
              <a:rPr lang="en-US" sz="1800" dirty="0">
                <a:solidFill>
                  <a:srgbClr val="000000"/>
                </a:solidFill>
              </a:rPr>
              <a:t> algorithm</a:t>
            </a:r>
          </a:p>
          <a:p>
            <a:pPr algn="just">
              <a:buFont typeface="Arial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algn="just">
              <a:buFont typeface="Arial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algn="just">
              <a:buFont typeface="Arial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1D9EB-2BEA-E1F6-793F-66E35C612E1B}"/>
              </a:ext>
            </a:extLst>
          </p:cNvPr>
          <p:cNvSpPr txBox="1"/>
          <p:nvPr/>
        </p:nvSpPr>
        <p:spPr>
          <a:xfrm>
            <a:off x="571211" y="644917"/>
            <a:ext cx="3482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F0899F-D6D5-05D5-8E11-D3BE9BD5A92B}"/>
              </a:ext>
            </a:extLst>
          </p:cNvPr>
          <p:cNvSpPr txBox="1"/>
          <p:nvPr/>
        </p:nvSpPr>
        <p:spPr>
          <a:xfrm>
            <a:off x="7442742" y="5062336"/>
            <a:ext cx="3976197" cy="1282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b="1">
                <a:solidFill>
                  <a:srgbClr val="E8760C"/>
                </a:solidFill>
                <a:latin typeface="Grandview Display"/>
              </a:rPr>
              <a:t>BY</a:t>
            </a:r>
            <a:endParaRPr lang="en-US" b="1">
              <a:solidFill>
                <a:srgbClr val="E8760C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b="1">
                <a:solidFill>
                  <a:srgbClr val="E8760C"/>
                </a:solidFill>
                <a:latin typeface="Grandview Display"/>
              </a:rPr>
              <a:t>ARDHRA ANN DENNY</a:t>
            </a:r>
          </a:p>
          <a:p>
            <a:pPr algn="r">
              <a:lnSpc>
                <a:spcPct val="150000"/>
              </a:lnSpc>
            </a:pPr>
            <a:r>
              <a:rPr lang="en-US" b="1">
                <a:solidFill>
                  <a:srgbClr val="E8760C"/>
                </a:solidFill>
                <a:latin typeface="Grandview Display"/>
              </a:rPr>
              <a:t>MANU SHARANYA BHADRIRAJU</a:t>
            </a:r>
          </a:p>
        </p:txBody>
      </p:sp>
      <p:pic>
        <p:nvPicPr>
          <p:cNvPr id="13" name="Picture 12" descr="Design our Reddit Snoo! : r/SchoolSpirits">
            <a:extLst>
              <a:ext uri="{FF2B5EF4-FFF2-40B4-BE49-F238E27FC236}">
                <a16:creationId xmlns:a16="http://schemas.microsoft.com/office/drawing/2014/main" id="{C49CED2D-45A2-4300-CAA3-F72EDE69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7" t="8504" r="28104" b="11730"/>
          <a:stretch>
            <a:fillRect/>
          </a:stretch>
        </p:blipFill>
        <p:spPr>
          <a:xfrm>
            <a:off x="288122" y="4677345"/>
            <a:ext cx="1240731" cy="206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D67B-B13D-2E00-3F41-184954C2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>
                <a:latin typeface="Grandview Display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9512-B04B-6D10-6544-B854098C2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00" y="1715393"/>
            <a:ext cx="3590865" cy="421554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>
                <a:ea typeface="+mj-lt"/>
                <a:cs typeface="+mj-lt"/>
              </a:rPr>
              <a:t>Dataset was a Kaggle Reddit Mental Health Dataset</a:t>
            </a:r>
          </a:p>
          <a:p>
            <a:r>
              <a:rPr lang="en-US" sz="1800">
                <a:ea typeface="+mj-lt"/>
                <a:cs typeface="+mj-lt"/>
              </a:rPr>
              <a:t>It contains reddit posts of 5 subreddits relating to mental health </a:t>
            </a:r>
          </a:p>
          <a:p>
            <a:r>
              <a:rPr lang="en-US" sz="1800">
                <a:ea typeface="+mj-lt"/>
                <a:cs typeface="+mj-lt"/>
              </a:rPr>
              <a:t>We took 12,000 posts spanning 3 subreddits; Depression, Anxiety and </a:t>
            </a:r>
            <a:r>
              <a:rPr lang="en-US" sz="1800" err="1">
                <a:ea typeface="+mj-lt"/>
                <a:cs typeface="+mj-lt"/>
              </a:rPr>
              <a:t>SuicideWatch</a:t>
            </a:r>
          </a:p>
          <a:p>
            <a:r>
              <a:rPr lang="en-US" sz="1800">
                <a:ea typeface="+mj-lt"/>
                <a:cs typeface="+mj-lt"/>
              </a:rPr>
              <a:t>Each post contains a title, </a:t>
            </a:r>
            <a:r>
              <a:rPr lang="en-US" sz="1800" err="1">
                <a:ea typeface="+mj-lt"/>
                <a:cs typeface="+mj-lt"/>
              </a:rPr>
              <a:t>selftext</a:t>
            </a:r>
            <a:r>
              <a:rPr lang="en-US" sz="1800">
                <a:ea typeface="+mj-lt"/>
                <a:cs typeface="+mj-lt"/>
              </a:rPr>
              <a:t> body, taken as features  and the subreddit label used as the class target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A90E3-BCFF-B96D-513F-37B98D92867F}"/>
              </a:ext>
            </a:extLst>
          </p:cNvPr>
          <p:cNvSpPr txBox="1"/>
          <p:nvPr/>
        </p:nvSpPr>
        <p:spPr>
          <a:xfrm>
            <a:off x="4069772" y="1729378"/>
            <a:ext cx="749426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Problems Faced: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Overlapping of data, especially between the Depression and </a:t>
            </a:r>
            <a:r>
              <a:rPr lang="en-US" err="1"/>
              <a:t>SuicideWatch</a:t>
            </a:r>
            <a:r>
              <a:rPr lang="en-US"/>
              <a:t> labels, tried to handle with limiting the stop words.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Combining the data.  </a:t>
            </a:r>
          </a:p>
        </p:txBody>
      </p:sp>
      <p:pic>
        <p:nvPicPr>
          <p:cNvPr id="7" name="Picture 6" descr="A diagram of different colored circles&#10;&#10;AI-generated content may be incorrect.">
            <a:extLst>
              <a:ext uri="{FF2B5EF4-FFF2-40B4-BE49-F238E27FC236}">
                <a16:creationId xmlns:a16="http://schemas.microsoft.com/office/drawing/2014/main" id="{0138DE6F-FB15-C13A-9DC5-F32AD629E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366" y="2929071"/>
            <a:ext cx="3561593" cy="344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35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577F-2C44-A147-47DA-C91277CB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Grandview Display"/>
              </a:rPr>
              <a:t>RESULTS</a:t>
            </a:r>
            <a:endParaRPr lang="en-US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2305C-EA2E-0EF3-1069-3A0AE330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C40AE-539D-4237-B7F5-62760C2906C4}" type="datetime1">
              <a:t>4/22/2026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EA5F3-2988-D181-70C3-7020A3E2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84A0EA-0E75-E562-1BF9-C14F80D73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707532"/>
              </p:ext>
            </p:extLst>
          </p:nvPr>
        </p:nvGraphicFramePr>
        <p:xfrm>
          <a:off x="695157" y="1697789"/>
          <a:ext cx="11015523" cy="445275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20629">
                  <a:extLst>
                    <a:ext uri="{9D8B030D-6E8A-4147-A177-3AD203B41FA5}">
                      <a16:colId xmlns:a16="http://schemas.microsoft.com/office/drawing/2014/main" val="2939539491"/>
                    </a:ext>
                  </a:extLst>
                </a:gridCol>
                <a:gridCol w="1660582">
                  <a:extLst>
                    <a:ext uri="{9D8B030D-6E8A-4147-A177-3AD203B41FA5}">
                      <a16:colId xmlns:a16="http://schemas.microsoft.com/office/drawing/2014/main" val="600984367"/>
                    </a:ext>
                  </a:extLst>
                </a:gridCol>
                <a:gridCol w="2652622">
                  <a:extLst>
                    <a:ext uri="{9D8B030D-6E8A-4147-A177-3AD203B41FA5}">
                      <a16:colId xmlns:a16="http://schemas.microsoft.com/office/drawing/2014/main" val="661507044"/>
                    </a:ext>
                  </a:extLst>
                </a:gridCol>
                <a:gridCol w="1897811">
                  <a:extLst>
                    <a:ext uri="{9D8B030D-6E8A-4147-A177-3AD203B41FA5}">
                      <a16:colId xmlns:a16="http://schemas.microsoft.com/office/drawing/2014/main" val="2166880233"/>
                    </a:ext>
                  </a:extLst>
                </a:gridCol>
                <a:gridCol w="1983879">
                  <a:extLst>
                    <a:ext uri="{9D8B030D-6E8A-4147-A177-3AD203B41FA5}">
                      <a16:colId xmlns:a16="http://schemas.microsoft.com/office/drawing/2014/main" val="1351149655"/>
                    </a:ext>
                  </a:extLst>
                </a:gridCol>
              </a:tblGrid>
              <a:tr h="612270">
                <a:tc>
                  <a:txBody>
                    <a:bodyPr/>
                    <a:lstStyle/>
                    <a:p>
                      <a:r>
                        <a:rPr lang="en-US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 SCORE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953498"/>
                  </a:ext>
                </a:extLst>
              </a:tr>
              <a:tr h="612270">
                <a:tc>
                  <a:txBody>
                    <a:bodyPr/>
                    <a:lstStyle/>
                    <a:p>
                      <a:r>
                        <a:rPr lang="en-US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A: 0.90; D:0.65; S:0.69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0.86; D:0.67; S:0.71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0.88; D:0.66; S:0.70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28477"/>
                  </a:ext>
                </a:extLst>
              </a:tr>
              <a:tr h="612270">
                <a:tc>
                  <a:txBody>
                    <a:bodyPr/>
                    <a:lstStyle/>
                    <a:p>
                      <a:r>
                        <a:rPr lang="en-US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0.84; D:0.61; S:0.68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0.85; D:0.61; S:0.67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0.85; D:0.61; S:0.67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379673"/>
                  </a:ext>
                </a:extLst>
              </a:tr>
              <a:tr h="61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0.89; D:0.63; S:0.67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0.87; D:0.64; S:0.69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0.88; D:0.64; S:0.68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007892"/>
                  </a:ext>
                </a:extLst>
              </a:tr>
              <a:tr h="612270">
                <a:tc>
                  <a:txBody>
                    <a:bodyPr/>
                    <a:lstStyle/>
                    <a:p>
                      <a:r>
                        <a:rPr lang="en-US"/>
                        <a:t>XG 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0.;91 D:0.64; S:0.68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0.85; D:0.66; S:0.71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0.88; D:0.65; S:0.69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88737"/>
                  </a:ext>
                </a:extLst>
              </a:tr>
              <a:tr h="612270">
                <a:tc>
                  <a:txBody>
                    <a:bodyPr/>
                    <a:lstStyle/>
                    <a:p>
                      <a:r>
                        <a:rPr lang="en-US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0.86; D:0.63; S:0.65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0.86; D:0.59; S:0.69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0.86; D:0.61; S:0.67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540612"/>
                  </a:ext>
                </a:extLst>
              </a:tr>
              <a:tr h="612270">
                <a:tc>
                  <a:txBody>
                    <a:bodyPr/>
                    <a:lstStyle/>
                    <a:p>
                      <a:r>
                        <a:rPr lang="en-US" dirty="0" err="1"/>
                        <a:t>DistilBERT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0.90; D:0.69; S:0.71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0.89; D:0.65; S:0.76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A: 0.90; D:0.67; S:0.74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874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800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7AB9-F2FA-9E43-96DA-5B7A96BA6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Grandview Display"/>
              </a:rPr>
              <a:t>CONCLUSION AND FUTURE SCOPE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420B5-5CCA-A43A-06C4-6983EFA63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551" y="2027450"/>
            <a:ext cx="10168128" cy="369417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000" dirty="0" err="1">
                <a:ea typeface="+mn-lt"/>
                <a:cs typeface="+mn-lt"/>
              </a:rPr>
              <a:t>DistilBERT</a:t>
            </a:r>
            <a:r>
              <a:rPr lang="en-US" sz="2000" dirty="0">
                <a:ea typeface="+mn-lt"/>
                <a:cs typeface="+mn-lt"/>
              </a:rPr>
              <a:t> outperformed all models, highlighting the strength of contextual embeddings over bag-of-words.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Anxiety showed the highest per-class F1 (0.90); Depression was the most challenging (0.67) due to semantic overlap with adjacent subreddits.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Future Scope:</a:t>
            </a:r>
            <a:endParaRPr lang="en-US" sz="2000" b="1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Aim to explore domain-specific transformers such as Mental-BERT or </a:t>
            </a:r>
            <a:r>
              <a:rPr lang="en-US" sz="2000" dirty="0" err="1">
                <a:ea typeface="+mn-lt"/>
                <a:cs typeface="+mn-lt"/>
              </a:rPr>
              <a:t>RoBERTa</a:t>
            </a:r>
            <a:r>
              <a:rPr lang="en-US" sz="2000" dirty="0">
                <a:ea typeface="+mn-lt"/>
                <a:cs typeface="+mn-lt"/>
              </a:rPr>
              <a:t> for improved performance.</a:t>
            </a:r>
          </a:p>
          <a:p>
            <a:r>
              <a:rPr lang="en-US" sz="2000">
                <a:ea typeface="+mn-lt"/>
                <a:cs typeface="+mn-lt"/>
              </a:rPr>
              <a:t>Develop a real-time classification pipeline using the Reddit API for continuous monitoring.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Apply contrastive learning techniques to better separate semantically similar classes</a:t>
            </a:r>
            <a:endParaRPr lang="en-US" sz="2000" dirty="0"/>
          </a:p>
          <a:p>
            <a:endParaRPr lang="en-US" sz="200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88736-BF1D-3930-8E7B-F4D426E9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4B-9069-4C5D-9457-A3C93B3032B0}" type="datetime1">
              <a:t>4/22/2026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78B40-4DF0-6CFF-AC09-CDD363E5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6157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473</Words>
  <Application>Microsoft Office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Avenir Next LT Pro</vt:lpstr>
      <vt:lpstr>Grandview Display</vt:lpstr>
      <vt:lpstr>Lucida Sans</vt:lpstr>
      <vt:lpstr>AccentBoxVTI</vt:lpstr>
      <vt:lpstr>SOCIAL MEDIA AND MENTAL HEALTH When words are all we have </vt:lpstr>
      <vt:lpstr>DATASET</vt:lpstr>
      <vt:lpstr>RESULTS</vt:lpstr>
      <vt:lpstr>CONCLUSION AND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Manu Sharanya Bhadriraju</cp:lastModifiedBy>
  <cp:revision>71</cp:revision>
  <dcterms:created xsi:type="dcterms:W3CDTF">2026-04-17T20:57:03Z</dcterms:created>
  <dcterms:modified xsi:type="dcterms:W3CDTF">2026-04-22T19:54:11Z</dcterms:modified>
</cp:coreProperties>
</file>